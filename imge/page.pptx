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80" r:id="rId3"/>
    <p:sldId id="258" r:id="rId4"/>
    <p:sldId id="273" r:id="rId5"/>
    <p:sldId id="259" r:id="rId6"/>
    <p:sldId id="261" r:id="rId7"/>
    <p:sldId id="262" r:id="rId8"/>
    <p:sldId id="281" r:id="rId9"/>
    <p:sldId id="263" r:id="rId10"/>
    <p:sldId id="264" r:id="rId11"/>
    <p:sldId id="265" r:id="rId12"/>
    <p:sldId id="266" r:id="rId13"/>
    <p:sldId id="267" r:id="rId14"/>
    <p:sldId id="268" r:id="rId15"/>
    <p:sldId id="283" r:id="rId16"/>
    <p:sldId id="284" r:id="rId17"/>
    <p:sldId id="269" r:id="rId18"/>
    <p:sldId id="270" r:id="rId19"/>
    <p:sldId id="285" r:id="rId20"/>
    <p:sldId id="271" r:id="rId21"/>
    <p:sldId id="272" r:id="rId22"/>
    <p:sldId id="274" r:id="rId23"/>
    <p:sldId id="275" r:id="rId24"/>
    <p:sldId id="276" r:id="rId25"/>
    <p:sldId id="282" r:id="rId26"/>
    <p:sldId id="278" r:id="rId27"/>
    <p:sldId id="277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0825F64-171B-4F3B-910B-5629F3C83851}">
          <p14:sldIdLst>
            <p14:sldId id="257"/>
            <p14:sldId id="280"/>
            <p14:sldId id="258"/>
            <p14:sldId id="273"/>
            <p14:sldId id="259"/>
            <p14:sldId id="261"/>
            <p14:sldId id="262"/>
            <p14:sldId id="281"/>
            <p14:sldId id="263"/>
            <p14:sldId id="264"/>
            <p14:sldId id="265"/>
          </p14:sldIdLst>
        </p14:section>
        <p14:section name="Untitled Section" id="{586230DA-F97F-4F44-A5EE-935B51548724}">
          <p14:sldIdLst>
            <p14:sldId id="266"/>
            <p14:sldId id="267"/>
            <p14:sldId id="268"/>
            <p14:sldId id="283"/>
            <p14:sldId id="284"/>
            <p14:sldId id="269"/>
            <p14:sldId id="270"/>
            <p14:sldId id="285"/>
            <p14:sldId id="271"/>
            <p14:sldId id="272"/>
            <p14:sldId id="274"/>
            <p14:sldId id="275"/>
            <p14:sldId id="276"/>
            <p14:sldId id="282"/>
            <p14:sldId id="278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FB0B-B1CE-47E7-B7AA-5F20EC0A8B9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97FC-A228-4BBE-875B-5F97E4260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400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FB0B-B1CE-47E7-B7AA-5F20EC0A8B9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97FC-A228-4BBE-875B-5F97E4260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461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FB0B-B1CE-47E7-B7AA-5F20EC0A8B9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97FC-A228-4BBE-875B-5F97E4260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00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FB0B-B1CE-47E7-B7AA-5F20EC0A8B9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97FC-A228-4BBE-875B-5F97E4260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060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FB0B-B1CE-47E7-B7AA-5F20EC0A8B9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97FC-A228-4BBE-875B-5F97E4260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60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FB0B-B1CE-47E7-B7AA-5F20EC0A8B9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97FC-A228-4BBE-875B-5F97E4260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69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FB0B-B1CE-47E7-B7AA-5F20EC0A8B9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97FC-A228-4BBE-875B-5F97E4260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678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FB0B-B1CE-47E7-B7AA-5F20EC0A8B9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97FC-A228-4BBE-875B-5F97E4260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39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FB0B-B1CE-47E7-B7AA-5F20EC0A8B9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97FC-A228-4BBE-875B-5F97E4260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186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FB0B-B1CE-47E7-B7AA-5F20EC0A8B9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97FC-A228-4BBE-875B-5F97E4260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46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FB0B-B1CE-47E7-B7AA-5F20EC0A8B9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97FC-A228-4BBE-875B-5F97E426025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9882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FB0B-B1CE-47E7-B7AA-5F20EC0A8B9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97FC-A228-4BBE-875B-5F97E4260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323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FB0B-B1CE-47E7-B7AA-5F20EC0A8B9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97FC-A228-4BBE-875B-5F97E426025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97506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FB0B-B1CE-47E7-B7AA-5F20EC0A8B9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97FC-A228-4BBE-875B-5F97E4260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37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FB0B-B1CE-47E7-B7AA-5F20EC0A8B9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97FC-A228-4BBE-875B-5F97E4260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71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FB0B-B1CE-47E7-B7AA-5F20EC0A8B9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E97FC-A228-4BBE-875B-5F97E4260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468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2FB0B-B1CE-47E7-B7AA-5F20EC0A8B9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2BE97FC-A228-4BBE-875B-5F97E4260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585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9413B-E4AB-8BA7-9881-A0D1CAAF448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646302"/>
            <a:ext cx="10238122" cy="5211698"/>
          </a:xfrm>
        </p:spPr>
        <p:txBody>
          <a:bodyPr>
            <a:normAutofit fontScale="90000"/>
          </a:bodyPr>
          <a:lstStyle/>
          <a:p>
            <a:r>
              <a:rPr lang="en-US" sz="3100" dirty="0">
                <a:solidFill>
                  <a:schemeClr val="accent2">
                    <a:lumMod val="50000"/>
                  </a:schemeClr>
                </a:solidFill>
              </a:rPr>
              <a:t>Database Systems (</a:t>
            </a:r>
            <a:r>
              <a:rPr lang="en-US" sz="3100" dirty="0" err="1">
                <a:solidFill>
                  <a:schemeClr val="accent2">
                    <a:lumMod val="50000"/>
                  </a:schemeClr>
                </a:solidFill>
              </a:rPr>
              <a:t>SEng</a:t>
            </a:r>
            <a:r>
              <a:rPr lang="en-US" sz="3100" dirty="0">
                <a:solidFill>
                  <a:schemeClr val="accent2">
                    <a:lumMod val="50000"/>
                  </a:schemeClr>
                </a:solidFill>
              </a:rPr>
              <a:t> 2204)	</a:t>
            </a:r>
            <a:br>
              <a:rPr lang="en-US" sz="31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4400" dirty="0">
                <a:solidFill>
                  <a:schemeClr val="accent2"/>
                </a:solidFill>
              </a:rPr>
              <a:t>Chapter 7: Database Recovery Techniques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dirty="0"/>
              <a:t>	</a:t>
            </a:r>
            <a:r>
              <a:rPr lang="en-US" sz="2700" dirty="0">
                <a:solidFill>
                  <a:schemeClr val="accent2">
                    <a:lumMod val="75000"/>
                  </a:schemeClr>
                </a:solidFill>
              </a:rPr>
              <a:t>Members 			          	Id		      		Group</a:t>
            </a:r>
            <a:br>
              <a:rPr lang="en-US" dirty="0"/>
            </a:br>
            <a:r>
              <a:rPr lang="en-US" dirty="0"/>
              <a:t>	</a:t>
            </a:r>
            <a:r>
              <a:rPr lang="en-US" sz="2700" dirty="0">
                <a:solidFill>
                  <a:srgbClr val="00B050"/>
                </a:solidFill>
              </a:rPr>
              <a:t>1) </a:t>
            </a:r>
            <a:r>
              <a:rPr lang="en-US" sz="2700" dirty="0" err="1">
                <a:solidFill>
                  <a:srgbClr val="00B050"/>
                </a:solidFill>
              </a:rPr>
              <a:t>Getamesay</a:t>
            </a:r>
            <a:r>
              <a:rPr lang="en-US" sz="2700" dirty="0">
                <a:solidFill>
                  <a:srgbClr val="00B050"/>
                </a:solidFill>
              </a:rPr>
              <a:t> Mamo... UGR/38240/17………...1</a:t>
            </a:r>
            <a:br>
              <a:rPr lang="en-US" sz="2700" dirty="0">
                <a:solidFill>
                  <a:srgbClr val="00B050"/>
                </a:solidFill>
              </a:rPr>
            </a:br>
            <a:r>
              <a:rPr lang="en-US" sz="2700" dirty="0">
                <a:solidFill>
                  <a:srgbClr val="00B050"/>
                </a:solidFill>
              </a:rPr>
              <a:t>	2) Eman Abdulaziz…....UGR/36779/17….......1</a:t>
            </a:r>
            <a:br>
              <a:rPr lang="en-US" sz="2700" dirty="0">
                <a:solidFill>
                  <a:srgbClr val="00B050"/>
                </a:solidFill>
              </a:rPr>
            </a:br>
            <a:r>
              <a:rPr lang="en-US" sz="2700" dirty="0">
                <a:solidFill>
                  <a:srgbClr val="00B050"/>
                </a:solidFill>
              </a:rPr>
              <a:t>	3) Bereket Tadese………UGR/36541/17…………..2</a:t>
            </a:r>
            <a:br>
              <a:rPr lang="en-US" sz="2700" dirty="0">
                <a:solidFill>
                  <a:srgbClr val="00B050"/>
                </a:solidFill>
              </a:rPr>
            </a:br>
            <a:r>
              <a:rPr lang="en-US" sz="2700" dirty="0">
                <a:solidFill>
                  <a:srgbClr val="00B050"/>
                </a:solidFill>
              </a:rPr>
              <a:t>	4) Bereket Tarekegn….UGR/36542/17.…..….…1</a:t>
            </a:r>
            <a:br>
              <a:rPr lang="en-US" sz="2700" dirty="0">
                <a:solidFill>
                  <a:srgbClr val="00B050"/>
                </a:solidFill>
              </a:rPr>
            </a:br>
            <a:r>
              <a:rPr lang="en-US" sz="2700" dirty="0">
                <a:solidFill>
                  <a:srgbClr val="00B050"/>
                </a:solidFill>
              </a:rPr>
              <a:t>	5) Dagim Asmamaw…… UGR/36651/17.........1</a:t>
            </a:r>
            <a:br>
              <a:rPr lang="en-US" sz="2700" dirty="0">
                <a:solidFill>
                  <a:srgbClr val="00B050"/>
                </a:solidFill>
              </a:rPr>
            </a:br>
            <a:r>
              <a:rPr lang="en-US" sz="2700" dirty="0">
                <a:solidFill>
                  <a:srgbClr val="00B050"/>
                </a:solidFill>
              </a:rPr>
              <a:t>	6) Hilina Zewdu………….UGR/37099/17.........2</a:t>
            </a:r>
            <a:br>
              <a:rPr lang="en-US" sz="2700" dirty="0">
                <a:solidFill>
                  <a:srgbClr val="00B050"/>
                </a:solidFill>
              </a:rPr>
            </a:br>
            <a:r>
              <a:rPr lang="en-US" sz="2700" dirty="0">
                <a:solidFill>
                  <a:srgbClr val="00B050"/>
                </a:solidFill>
              </a:rPr>
              <a:t>		</a:t>
            </a:r>
            <a:br>
              <a:rPr lang="en-US" sz="2700" dirty="0">
                <a:solidFill>
                  <a:srgbClr val="00B050"/>
                </a:solidFill>
              </a:rPr>
            </a:br>
            <a:br>
              <a:rPr lang="en-US" sz="2700" dirty="0">
                <a:solidFill>
                  <a:srgbClr val="00B050"/>
                </a:solidFill>
              </a:rPr>
            </a:br>
            <a:r>
              <a:rPr lang="en-US" sz="2700" dirty="0">
                <a:solidFill>
                  <a:srgbClr val="00B050"/>
                </a:solidFill>
              </a:rPr>
              <a:t>		</a:t>
            </a:r>
            <a:r>
              <a:rPr lang="en-US" sz="2700" b="1" dirty="0">
                <a:solidFill>
                  <a:schemeClr val="tx2">
                    <a:lumMod val="50000"/>
                  </a:schemeClr>
                </a:solidFill>
              </a:rPr>
              <a:t>Instructor:</a:t>
            </a:r>
            <a:r>
              <a:rPr lang="en-US" sz="2700" dirty="0">
                <a:solidFill>
                  <a:schemeClr val="tx2">
                    <a:lumMod val="50000"/>
                  </a:schemeClr>
                </a:solidFill>
              </a:rPr>
              <a:t> Alemayehu </a:t>
            </a:r>
            <a:r>
              <a:rPr lang="en-US" sz="2700" dirty="0" err="1">
                <a:solidFill>
                  <a:schemeClr val="tx2">
                    <a:lumMod val="50000"/>
                  </a:schemeClr>
                </a:solidFill>
              </a:rPr>
              <a:t>Megersa</a:t>
            </a:r>
            <a:r>
              <a:rPr lang="en-US" sz="2700" dirty="0">
                <a:solidFill>
                  <a:schemeClr val="tx2">
                    <a:lumMod val="50000"/>
                  </a:schemeClr>
                </a:solidFill>
              </a:rPr>
              <a:t> Keba</a:t>
            </a:r>
            <a:br>
              <a:rPr lang="en-US" sz="2700" dirty="0">
                <a:solidFill>
                  <a:srgbClr val="00B050"/>
                </a:solidFill>
              </a:rPr>
            </a:br>
            <a:br>
              <a:rPr lang="en-US" sz="2700" dirty="0">
                <a:solidFill>
                  <a:srgbClr val="00B050"/>
                </a:solidFill>
              </a:rPr>
            </a:br>
            <a:br>
              <a:rPr lang="en-US" sz="2700" dirty="0">
                <a:solidFill>
                  <a:srgbClr val="00B050"/>
                </a:solidFill>
              </a:rPr>
            </a:br>
            <a:r>
              <a:rPr lang="en-US" sz="2700" dirty="0">
                <a:solidFill>
                  <a:srgbClr val="00B050"/>
                </a:solidFill>
              </a:rPr>
              <a:t>					</a:t>
            </a:r>
            <a:br>
              <a:rPr lang="en-US" dirty="0">
                <a:solidFill>
                  <a:srgbClr val="00B050"/>
                </a:solidFill>
              </a:rPr>
            </a:b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AEF34E-27C0-0221-FC62-F7472C793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283" y="0"/>
            <a:ext cx="2281556" cy="164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508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5FE62-6152-92CC-5A59-55160F6B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6D12A-7441-7597-AA7D-ED0C3B07E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recovery helps restore databases after failures such as crashes or power outages. In this presentation, we will discuss recovery methods including logging, checkpointing, undo/redo operations, and the ARIES recovery algorithm used in modern DBMSs.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829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502EE-A0E9-444C-365F-C076FD248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4EDF4-6AA4-5C2C-64A5-1A12960CF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of restoring database after failure.</a:t>
            </a:r>
          </a:p>
          <a:p>
            <a:r>
              <a:rPr lang="en-US" dirty="0"/>
              <a:t>Its essential because several challenges can compromise data integrity .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307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036-3118-6470-6D28-9987580B2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 of Managers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4FDD0-2DBB-931A-5EF3-DF3B37626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Transaction Manager</a:t>
            </a:r>
            <a:r>
              <a:rPr lang="en-US" dirty="0"/>
              <a:t> </a:t>
            </a:r>
          </a:p>
          <a:p>
            <a:pPr lvl="1"/>
            <a:r>
              <a:rPr lang="en-US" sz="1800" dirty="0"/>
              <a:t>Handles begin, commit, </a:t>
            </a:r>
            <a:r>
              <a:rPr lang="en-US" dirty="0"/>
              <a:t>abort</a:t>
            </a:r>
            <a:endParaRPr lang="en-US" sz="1800" dirty="0"/>
          </a:p>
          <a:p>
            <a:r>
              <a:rPr lang="en-US" b="1" dirty="0"/>
              <a:t>Log Manager</a:t>
            </a:r>
            <a:r>
              <a:rPr lang="en-US" dirty="0"/>
              <a:t> </a:t>
            </a:r>
          </a:p>
          <a:p>
            <a:pPr lvl="1"/>
            <a:r>
              <a:rPr lang="en-US" sz="1800" dirty="0"/>
              <a:t>Stores logs in buffer and disk </a:t>
            </a:r>
          </a:p>
          <a:p>
            <a:r>
              <a:rPr lang="en-US" b="1" dirty="0"/>
              <a:t>Recovery Manager</a:t>
            </a:r>
            <a:r>
              <a:rPr lang="en-US" dirty="0"/>
              <a:t> </a:t>
            </a:r>
          </a:p>
          <a:p>
            <a:pPr lvl="1"/>
            <a:r>
              <a:rPr lang="en-US" sz="1800" dirty="0"/>
              <a:t>Restores database after failure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608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45781-6A75-D546-B938-98C53FD1D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5F06-9800-49FB-AD02-FE6EA925D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Restore database to the last consistent state prior to failure.</a:t>
            </a:r>
          </a:p>
          <a:p>
            <a:r>
              <a:rPr lang="en-US" dirty="0"/>
              <a:t>Prevent data loss</a:t>
            </a:r>
          </a:p>
          <a:p>
            <a:r>
              <a:rPr lang="en-US" dirty="0"/>
              <a:t>Maintain transaction integrity </a:t>
            </a:r>
          </a:p>
          <a:p>
            <a:r>
              <a:rPr lang="en-US" b="1" dirty="0"/>
              <a:t>Recovery Manager:</a:t>
            </a:r>
          </a:p>
          <a:p>
            <a:pPr lvl="1"/>
            <a:r>
              <a:rPr lang="en-US" dirty="0"/>
              <a:t>Ensures </a:t>
            </a:r>
            <a:r>
              <a:rPr lang="en-US" b="1" dirty="0"/>
              <a:t>Atomicity</a:t>
            </a:r>
            <a:r>
              <a:rPr lang="en-US" dirty="0"/>
              <a:t> by undoing uncommitted transactions.</a:t>
            </a:r>
          </a:p>
          <a:p>
            <a:pPr lvl="1"/>
            <a:r>
              <a:rPr lang="en-US" dirty="0"/>
              <a:t>Ensures </a:t>
            </a:r>
            <a:r>
              <a:rPr lang="en-US" b="1" dirty="0"/>
              <a:t>Durability</a:t>
            </a:r>
            <a:r>
              <a:rPr lang="en-US" dirty="0"/>
              <a:t> by redoing committed transactions after a crash.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037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3D1B9-3D64-1A2A-0F0A-BEE7E9907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65100"/>
            <a:ext cx="8596668" cy="651538"/>
          </a:xfrm>
        </p:spPr>
        <p:txBody>
          <a:bodyPr/>
          <a:lstStyle/>
          <a:p>
            <a:r>
              <a:rPr lang="en-US" dirty="0"/>
              <a:t>Types of Failures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5BEE3-B07B-A0C9-8B40-BEEB112F5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16000"/>
            <a:ext cx="8596668" cy="5549899"/>
          </a:xfrm>
        </p:spPr>
        <p:txBody>
          <a:bodyPr>
            <a:normAutofit/>
          </a:bodyPr>
          <a:lstStyle/>
          <a:p>
            <a:r>
              <a:rPr lang="en-US" b="1" dirty="0"/>
              <a:t>Transaction Failure:</a:t>
            </a:r>
          </a:p>
          <a:p>
            <a:pPr lvl="1"/>
            <a:r>
              <a:rPr lang="en-US" sz="1800" dirty="0"/>
              <a:t>Logical errors in transaction code</a:t>
            </a:r>
          </a:p>
          <a:p>
            <a:pPr lvl="1"/>
            <a:r>
              <a:rPr lang="en-US" sz="1800" dirty="0"/>
              <a:t>user-initiated aborts</a:t>
            </a:r>
          </a:p>
          <a:p>
            <a:pPr lvl="1"/>
            <a:r>
              <a:rPr lang="en-US" sz="1800" dirty="0"/>
              <a:t>Deadlocks between transactions </a:t>
            </a:r>
          </a:p>
          <a:p>
            <a:r>
              <a:rPr lang="en-US" b="1" dirty="0"/>
              <a:t>System Failure:</a:t>
            </a:r>
            <a:r>
              <a:rPr lang="en-US" dirty="0"/>
              <a:t> </a:t>
            </a:r>
          </a:p>
          <a:p>
            <a:pPr lvl="1"/>
            <a:r>
              <a:rPr lang="en-US" sz="1800" dirty="0"/>
              <a:t>OS crash </a:t>
            </a:r>
          </a:p>
          <a:p>
            <a:pPr lvl="1"/>
            <a:r>
              <a:rPr lang="en-US" sz="1800" dirty="0"/>
              <a:t>RAM failure</a:t>
            </a:r>
          </a:p>
          <a:p>
            <a:pPr lvl="1"/>
            <a:r>
              <a:rPr lang="en-US" sz="1800" dirty="0"/>
              <a:t> power outages affecting servers</a:t>
            </a:r>
          </a:p>
          <a:p>
            <a:r>
              <a:rPr lang="en-US" b="1" dirty="0"/>
              <a:t>Media Failure:</a:t>
            </a:r>
            <a:r>
              <a:rPr lang="en-US" dirty="0"/>
              <a:t> </a:t>
            </a:r>
          </a:p>
          <a:p>
            <a:pPr lvl="1"/>
            <a:r>
              <a:rPr lang="en-US" sz="1800" dirty="0"/>
              <a:t>Disk head crashes</a:t>
            </a:r>
          </a:p>
          <a:p>
            <a:pPr lvl="1"/>
            <a:r>
              <a:rPr lang="en-US" sz="1800" dirty="0"/>
              <a:t>Power failure</a:t>
            </a:r>
          </a:p>
          <a:p>
            <a:pPr lvl="1"/>
            <a:r>
              <a:rPr lang="en-US" sz="1800" dirty="0"/>
              <a:t>physical storage damage.</a:t>
            </a:r>
          </a:p>
        </p:txBody>
      </p:sp>
    </p:spTree>
    <p:extLst>
      <p:ext uri="{BB962C8B-B14F-4D97-AF65-F5344CB8AC3E}">
        <p14:creationId xmlns:p14="http://schemas.microsoft.com/office/powerpoint/2010/main" val="2815148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9EC4-A696-4577-6B53-425C7BA2D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816638"/>
          </a:xfrm>
        </p:spPr>
        <p:txBody>
          <a:bodyPr/>
          <a:lstStyle/>
          <a:p>
            <a:r>
              <a:rPr lang="en-US" dirty="0"/>
              <a:t>Recovery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C6A8C-003A-DA99-D2AB-B1FCD3A1E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16638"/>
            <a:ext cx="8596668" cy="5905003"/>
          </a:xfrm>
        </p:spPr>
        <p:txBody>
          <a:bodyPr>
            <a:normAutofit/>
          </a:bodyPr>
          <a:lstStyle/>
          <a:p>
            <a:r>
              <a:rPr lang="en-US" dirty="0"/>
              <a:t>To recover from a system failure, the system keeps information about the change in the system log</a:t>
            </a:r>
            <a:endParaRPr lang="en-US" b="1" dirty="0"/>
          </a:p>
          <a:p>
            <a:r>
              <a:rPr lang="en-US" b="1" dirty="0"/>
              <a:t>Catastrophic Failure:</a:t>
            </a:r>
          </a:p>
          <a:p>
            <a:pPr lvl="1"/>
            <a:r>
              <a:rPr lang="en-US" sz="1800" dirty="0"/>
              <a:t>If there is extensive damage to the wide portion of the database.</a:t>
            </a:r>
          </a:p>
          <a:p>
            <a:pPr lvl="1"/>
            <a:r>
              <a:rPr lang="en-US" sz="1800" dirty="0"/>
              <a:t>Requires restoring a backup copy from storage.</a:t>
            </a:r>
          </a:p>
          <a:p>
            <a:pPr lvl="1"/>
            <a:r>
              <a:rPr lang="en-US" sz="1800" dirty="0"/>
              <a:t>Reconstructs operations from the log up to the crash.</a:t>
            </a:r>
          </a:p>
          <a:p>
            <a:r>
              <a:rPr lang="en-US" b="1" dirty="0"/>
              <a:t>Non-Catastrophic Failure:</a:t>
            </a:r>
            <a:endParaRPr lang="en-US" dirty="0"/>
          </a:p>
          <a:p>
            <a:pPr lvl="1"/>
            <a:r>
              <a:rPr lang="en-US" sz="1800" dirty="0"/>
              <a:t>Database is physically intact but inconsistent.</a:t>
            </a:r>
          </a:p>
          <a:p>
            <a:pPr lvl="1"/>
            <a:r>
              <a:rPr lang="en-US" sz="1800" dirty="0"/>
              <a:t>Uses </a:t>
            </a:r>
            <a:r>
              <a:rPr lang="en-US" sz="1800" b="1" dirty="0"/>
              <a:t>Undo</a:t>
            </a:r>
            <a:r>
              <a:rPr lang="en-US" sz="1800" dirty="0"/>
              <a:t> and </a:t>
            </a:r>
            <a:r>
              <a:rPr lang="en-US" sz="1800" b="1" dirty="0"/>
              <a:t>Redo</a:t>
            </a:r>
            <a:r>
              <a:rPr lang="en-US" sz="1800" dirty="0"/>
              <a:t> operations to fix states.</a:t>
            </a:r>
          </a:p>
          <a:p>
            <a:r>
              <a:rPr lang="en-US" b="1" dirty="0"/>
              <a:t>Example of Failure Handling</a:t>
            </a:r>
          </a:p>
          <a:p>
            <a:pPr lvl="1"/>
            <a:r>
              <a:rPr lang="en-US" sz="1800" dirty="0"/>
              <a:t>If committed but not saved → </a:t>
            </a:r>
            <a:r>
              <a:rPr lang="en-US" sz="1800" b="1" dirty="0"/>
              <a:t>Redo</a:t>
            </a:r>
            <a:r>
              <a:rPr lang="en-US" sz="1800" dirty="0"/>
              <a:t> </a:t>
            </a:r>
          </a:p>
          <a:p>
            <a:pPr lvl="1"/>
            <a:r>
              <a:rPr lang="en-US" sz="1800" dirty="0"/>
              <a:t>If not committed → </a:t>
            </a:r>
            <a:r>
              <a:rPr lang="en-US" sz="1800" b="1" dirty="0"/>
              <a:t>Undo</a:t>
            </a:r>
            <a:endParaRPr lang="en-US" sz="18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507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06D34-FB7F-44D3-DC78-AF253F797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05543"/>
            <a:ext cx="8596668" cy="432793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If transaction had not committed at failure time, recovery manager has to </a:t>
            </a:r>
            <a:r>
              <a:rPr lang="en-US" i="1" dirty="0">
                <a:latin typeface="Times New Roman" panose="02020603050405020304" pitchFamily="18" charset="0"/>
              </a:rPr>
              <a:t>undo</a:t>
            </a:r>
            <a:r>
              <a:rPr lang="en-US" dirty="0">
                <a:latin typeface="Times New Roman" panose="02020603050405020304" pitchFamily="18" charset="0"/>
              </a:rPr>
              <a:t> (</a:t>
            </a:r>
            <a:r>
              <a:rPr lang="en-US" i="1" dirty="0">
                <a:latin typeface="Times New Roman" panose="02020603050405020304" pitchFamily="18" charset="0"/>
              </a:rPr>
              <a:t>rollback</a:t>
            </a:r>
            <a:r>
              <a:rPr lang="en-US" dirty="0">
                <a:latin typeface="Times New Roman" panose="02020603050405020304" pitchFamily="18" charset="0"/>
              </a:rPr>
              <a:t>) any effects of that transaction for atomicity.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D51918-7719-6B7B-C27C-BEC02E20C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469571"/>
            <a:ext cx="8450624" cy="36639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287CD0-3366-799E-3220-96A5FD313810}"/>
              </a:ext>
            </a:extLst>
          </p:cNvPr>
          <p:cNvSpPr txBox="1"/>
          <p:nvPr/>
        </p:nvSpPr>
        <p:spPr>
          <a:xfrm flipH="1">
            <a:off x="1033817" y="5329417"/>
            <a:ext cx="7936012" cy="1378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en-US" sz="2200" dirty="0">
                <a:latin typeface="Times New Roman" panose="02020603050405020304" pitchFamily="18" charset="0"/>
              </a:rPr>
              <a:t>DBMS starts at time t</a:t>
            </a:r>
            <a:r>
              <a:rPr lang="en-US" sz="2200" baseline="-25000" dirty="0">
                <a:latin typeface="Times New Roman" panose="02020603050405020304" pitchFamily="18" charset="0"/>
              </a:rPr>
              <a:t>0</a:t>
            </a:r>
            <a:r>
              <a:rPr lang="en-US" sz="2200" dirty="0">
                <a:latin typeface="Times New Roman" panose="02020603050405020304" pitchFamily="18" charset="0"/>
              </a:rPr>
              <a:t>, but fails at time </a:t>
            </a:r>
            <a:r>
              <a:rPr lang="en-US" sz="2200" dirty="0" err="1">
                <a:latin typeface="Times New Roman" panose="02020603050405020304" pitchFamily="18" charset="0"/>
              </a:rPr>
              <a:t>t</a:t>
            </a:r>
            <a:r>
              <a:rPr lang="en-US" sz="2200" baseline="-25000" dirty="0" err="1">
                <a:latin typeface="Times New Roman" panose="02020603050405020304" pitchFamily="18" charset="0"/>
              </a:rPr>
              <a:t>f</a:t>
            </a:r>
            <a:r>
              <a:rPr lang="en-US" sz="2200" dirty="0">
                <a:latin typeface="Times New Roman" panose="02020603050405020304" pitchFamily="18" charset="0"/>
              </a:rPr>
              <a:t>. 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en-US" sz="2200" dirty="0">
                <a:latin typeface="Times New Roman" panose="02020603050405020304" pitchFamily="18" charset="0"/>
              </a:rPr>
              <a:t>T</a:t>
            </a:r>
            <a:r>
              <a:rPr lang="en-US" sz="2200" baseline="-25000" dirty="0">
                <a:latin typeface="Times New Roman" panose="02020603050405020304" pitchFamily="18" charset="0"/>
              </a:rPr>
              <a:t>1</a:t>
            </a:r>
            <a:r>
              <a:rPr lang="en-US" sz="2200" dirty="0">
                <a:latin typeface="Times New Roman" panose="02020603050405020304" pitchFamily="18" charset="0"/>
              </a:rPr>
              <a:t> and T</a:t>
            </a:r>
            <a:r>
              <a:rPr lang="en-US" sz="2200" baseline="-25000" dirty="0">
                <a:latin typeface="Times New Roman" panose="02020603050405020304" pitchFamily="18" charset="0"/>
              </a:rPr>
              <a:t>6</a:t>
            </a:r>
            <a:r>
              <a:rPr lang="en-US" sz="2200" dirty="0">
                <a:latin typeface="Times New Roman" panose="02020603050405020304" pitchFamily="18" charset="0"/>
              </a:rPr>
              <a:t> have to be undone. In the absence of any other information, the recovery manager has to redo T</a:t>
            </a:r>
            <a:r>
              <a:rPr lang="en-US" sz="2200" baseline="-25000" dirty="0">
                <a:latin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</a:rPr>
              <a:t>, T</a:t>
            </a:r>
            <a:r>
              <a:rPr lang="en-US" sz="2200" baseline="-25000" dirty="0">
                <a:latin typeface="Times New Roman" panose="02020603050405020304" pitchFamily="18" charset="0"/>
              </a:rPr>
              <a:t>3</a:t>
            </a:r>
            <a:r>
              <a:rPr lang="en-US" sz="2200" dirty="0">
                <a:latin typeface="Times New Roman" panose="02020603050405020304" pitchFamily="18" charset="0"/>
              </a:rPr>
              <a:t>, T</a:t>
            </a:r>
            <a:r>
              <a:rPr lang="en-US" sz="2200" baseline="-25000" dirty="0">
                <a:latin typeface="Times New Roman" panose="02020603050405020304" pitchFamily="18" charset="0"/>
              </a:rPr>
              <a:t>4</a:t>
            </a:r>
            <a:r>
              <a:rPr lang="en-US" sz="2200" dirty="0">
                <a:latin typeface="Times New Roman" panose="02020603050405020304" pitchFamily="18" charset="0"/>
              </a:rPr>
              <a:t>, and T</a:t>
            </a:r>
            <a:r>
              <a:rPr lang="en-US" sz="2200" baseline="-25000" dirty="0">
                <a:latin typeface="Times New Roman" panose="02020603050405020304" pitchFamily="18" charset="0"/>
              </a:rPr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246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B5952-FA99-6CA7-6F1C-D190FF29B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39700"/>
            <a:ext cx="8596668" cy="676938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The Transaction 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A9C35-FE94-1073-7AAF-64AB6D0A4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16638"/>
            <a:ext cx="8596668" cy="5901661"/>
          </a:xfrm>
        </p:spPr>
        <p:txBody>
          <a:bodyPr>
            <a:normAutofit/>
          </a:bodyPr>
          <a:lstStyle/>
          <a:p>
            <a:r>
              <a:rPr lang="en-US" dirty="0"/>
              <a:t>A </a:t>
            </a:r>
            <a:r>
              <a:rPr lang="en-US" b="1" dirty="0"/>
              <a:t>sequential file</a:t>
            </a:r>
            <a:r>
              <a:rPr lang="en-US" dirty="0"/>
              <a:t> storing all database changes for recovery purposes(Restore system after crash) </a:t>
            </a:r>
          </a:p>
          <a:p>
            <a:r>
              <a:rPr lang="en-US" dirty="0"/>
              <a:t>Stores:</a:t>
            </a:r>
          </a:p>
          <a:p>
            <a:pPr lvl="1"/>
            <a:r>
              <a:rPr lang="en-US" sz="1800" b="1" dirty="0"/>
              <a:t>BFIM (Before Image):</a:t>
            </a:r>
            <a:r>
              <a:rPr lang="en-US" sz="1800" dirty="0"/>
              <a:t> Data value before the change.</a:t>
            </a:r>
          </a:p>
          <a:p>
            <a:pPr lvl="1"/>
            <a:r>
              <a:rPr lang="en-US" sz="1800" b="1" dirty="0"/>
              <a:t>AFIM (After Image):</a:t>
            </a:r>
            <a:r>
              <a:rPr lang="en-US" sz="1800" dirty="0"/>
              <a:t> Data value after the change.</a:t>
            </a:r>
          </a:p>
          <a:p>
            <a:pPr lvl="1"/>
            <a:r>
              <a:rPr lang="en-US" sz="1800" b="1" dirty="0"/>
              <a:t>Pointers:</a:t>
            </a:r>
            <a:r>
              <a:rPr lang="en-US" sz="1800" dirty="0"/>
              <a:t> Back P and Next P link records of the same transaction.</a:t>
            </a:r>
          </a:p>
          <a:p>
            <a:pPr lvl="1"/>
            <a:r>
              <a:rPr lang="en-US" sz="1800" b="1" dirty="0"/>
              <a:t>prior to failure</a:t>
            </a:r>
            <a:r>
              <a:rPr lang="en-US" sz="1800" dirty="0"/>
              <a:t>: Read/Write/Commit/Abort</a:t>
            </a:r>
          </a:p>
          <a:p>
            <a:pPr lvl="1"/>
            <a:r>
              <a:rPr lang="en-US" sz="1800" b="1" dirty="0"/>
              <a:t>Transaction ID</a:t>
            </a:r>
            <a:r>
              <a:rPr lang="en-US" sz="1800" dirty="0"/>
              <a:t>: Identifies the transaction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13947F-BF48-7384-7581-BC1F16FB0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280" y="3963519"/>
            <a:ext cx="8252722" cy="261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11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D89C-27FC-2E7E-6309-BCA748A74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A7FF8-02E3-E72C-9979-4054D4F81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items to be modified are first stored into database cache by the Cache Manager (CM) and after modification they are flushed (written) to the disk</a:t>
            </a:r>
          </a:p>
          <a:p>
            <a:r>
              <a:rPr lang="en-US" b="1" dirty="0"/>
              <a:t>Cache Management Process</a:t>
            </a:r>
          </a:p>
          <a:p>
            <a:pPr lvl="1"/>
            <a:r>
              <a:rPr lang="en-US" sz="1800" dirty="0"/>
              <a:t>DBMS checks if requested item is in </a:t>
            </a:r>
            <a:r>
              <a:rPr lang="en-US" sz="1800" b="1" dirty="0"/>
              <a:t>database cache</a:t>
            </a:r>
            <a:endParaRPr lang="en-US" sz="1800" dirty="0"/>
          </a:p>
          <a:p>
            <a:pPr lvl="1"/>
            <a:r>
              <a:rPr lang="en-US" sz="1800" dirty="0"/>
              <a:t>If not present, disk blocks are </a:t>
            </a:r>
            <a:r>
              <a:rPr lang="en-US" sz="1800" b="1" dirty="0"/>
              <a:t>copied to cache</a:t>
            </a:r>
            <a:endParaRPr lang="en-US" sz="1800" dirty="0"/>
          </a:p>
          <a:p>
            <a:pPr lvl="1"/>
            <a:r>
              <a:rPr lang="en-US" sz="1800" dirty="0"/>
              <a:t>If cache is full, </a:t>
            </a:r>
            <a:r>
              <a:rPr lang="en-US" sz="1800" b="1" dirty="0"/>
              <a:t>buffer replacement policy</a:t>
            </a:r>
            <a:r>
              <a:rPr lang="en-US" sz="1800" dirty="0"/>
              <a:t> is applied</a:t>
            </a:r>
          </a:p>
          <a:p>
            <a:r>
              <a:rPr lang="en-US" b="1" dirty="0"/>
              <a:t>Buffer Replacement Policies</a:t>
            </a:r>
          </a:p>
          <a:p>
            <a:pPr lvl="1"/>
            <a:r>
              <a:rPr lang="en-US" sz="1800" b="1" dirty="0"/>
              <a:t>LRU</a:t>
            </a:r>
            <a:r>
              <a:rPr lang="en-US" sz="1800" dirty="0"/>
              <a:t> (Least Recently Used)</a:t>
            </a:r>
          </a:p>
          <a:p>
            <a:pPr lvl="1"/>
            <a:r>
              <a:rPr lang="en-US" sz="1800" b="1" dirty="0"/>
              <a:t>FIFO</a:t>
            </a:r>
            <a:r>
              <a:rPr lang="en-US" sz="1800" dirty="0"/>
              <a:t> (First In First Out)</a:t>
            </a:r>
            <a:endParaRPr lang="en-US" sz="1800" b="1" dirty="0"/>
          </a:p>
          <a:p>
            <a:r>
              <a:rPr lang="en-US" dirty="0"/>
              <a:t>When replacing buffers, </a:t>
            </a:r>
            <a:r>
              <a:rPr lang="en-US" b="1" dirty="0"/>
              <a:t>updated values must be saved to disk</a:t>
            </a:r>
            <a:r>
              <a:rPr lang="en-US" dirty="0"/>
              <a:t> first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564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59D73-2F16-E9C7-8742-BBD4E3936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Write-Ahead</a:t>
            </a:r>
            <a:r>
              <a:rPr lang="en-US" b="1" dirty="0"/>
              <a:t> </a:t>
            </a:r>
            <a:r>
              <a:rPr lang="en-US" dirty="0"/>
              <a:t>Logging (WAL)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34248-2C47-7501-6AC2-6223BD4DA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Ensures log availability for the recovery manager</a:t>
            </a:r>
          </a:p>
          <a:p>
            <a:r>
              <a:rPr lang="en-US" dirty="0"/>
              <a:t>Guarantees atomicity and durability</a:t>
            </a:r>
          </a:p>
          <a:p>
            <a:r>
              <a:rPr lang="en-US" dirty="0"/>
              <a:t>Before any database change is written to disk, the corresponding log record must be written to stable storage</a:t>
            </a:r>
          </a:p>
          <a:p>
            <a:r>
              <a:rPr lang="en-US" b="1" dirty="0"/>
              <a:t>For UNDO:</a:t>
            </a:r>
            <a:endParaRPr lang="en-US" dirty="0"/>
          </a:p>
          <a:p>
            <a:pPr lvl="1"/>
            <a:r>
              <a:rPr lang="en-US" sz="1800" dirty="0"/>
              <a:t>Before AFIM is flushed to the database disk, </a:t>
            </a:r>
            <a:r>
              <a:rPr lang="en-US" sz="1800" b="1" dirty="0"/>
              <a:t>BFIM must be written to the log</a:t>
            </a:r>
            <a:r>
              <a:rPr lang="en-US" sz="1800" dirty="0"/>
              <a:t> and saved on stable storage</a:t>
            </a:r>
          </a:p>
          <a:p>
            <a:r>
              <a:rPr lang="en-US" b="1" dirty="0"/>
              <a:t>For REDO:</a:t>
            </a:r>
            <a:endParaRPr lang="en-US" dirty="0"/>
          </a:p>
          <a:p>
            <a:pPr lvl="1"/>
            <a:r>
              <a:rPr lang="en-US" sz="1800" dirty="0"/>
              <a:t>Before the transaction executes a commit, </a:t>
            </a:r>
            <a:r>
              <a:rPr lang="en-US" sz="1800" b="1" dirty="0"/>
              <a:t>all AFIMs must be written to the log</a:t>
            </a:r>
            <a:r>
              <a:rPr lang="en-US" sz="1800" dirty="0"/>
              <a:t> and saved on stable storage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876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088F9-D2E3-30B6-7352-D3F8813E1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74307"/>
          </a:xfrm>
        </p:spPr>
        <p:txBody>
          <a:bodyPr>
            <a:normAutofit fontScale="90000"/>
          </a:bodyPr>
          <a:lstStyle/>
          <a:p>
            <a:r>
              <a:rPr lang="en-US" dirty="0"/>
              <a:t>Steal vs No-Steal / Force vs No-Force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702C247-9115-9FD1-F257-2CD595CAA0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6695311"/>
              </p:ext>
            </p:extLst>
          </p:nvPr>
        </p:nvGraphicFramePr>
        <p:xfrm>
          <a:off x="677863" y="1453416"/>
          <a:ext cx="8596311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2457822975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479799081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688746829"/>
                    </a:ext>
                  </a:extLst>
                </a:gridCol>
              </a:tblGrid>
              <a:tr h="32100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Policy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Definition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Advantage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3284903005"/>
                  </a:ext>
                </a:extLst>
              </a:tr>
              <a:tr h="53131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No-Steal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Cache cannot flush before transaction commit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No UNDO needed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4129801592"/>
                  </a:ext>
                </a:extLst>
              </a:tr>
              <a:tr h="53131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Steal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Cache can flush before transaction commit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Smaller buffer space required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440816582"/>
                  </a:ext>
                </a:extLst>
              </a:tr>
              <a:tr h="74162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Force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All cache updates immediately flushed at commit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No REDO needed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458496406"/>
                  </a:ext>
                </a:extLst>
              </a:tr>
              <a:tr h="53131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No-Force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Cache flushed when needed after commit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Reduces I/O for multi-transaction pages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424696719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724C354-2BF1-49F8-C4E0-BC7B43109D71}"/>
              </a:ext>
            </a:extLst>
          </p:cNvPr>
          <p:cNvSpPr txBox="1"/>
          <p:nvPr/>
        </p:nvSpPr>
        <p:spPr>
          <a:xfrm>
            <a:off x="361291" y="4611492"/>
            <a:ext cx="85963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Four Recovery Combinations 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92D050"/>
                </a:solidFill>
              </a:rPr>
              <a:t>Steal/No-Force</a:t>
            </a:r>
            <a:r>
              <a:rPr lang="en-US" dirty="0"/>
              <a:t>: UNDO + REDO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92D050"/>
                </a:solidFill>
              </a:rPr>
              <a:t>Steal/Force</a:t>
            </a:r>
            <a:r>
              <a:rPr lang="en-US" dirty="0"/>
              <a:t>: UNDO only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92D050"/>
                </a:solidFill>
              </a:rPr>
              <a:t>No-Steal/No-Force</a:t>
            </a:r>
            <a:r>
              <a:rPr lang="en-US" dirty="0"/>
              <a:t>: REDO only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92D050"/>
                </a:solidFill>
              </a:rPr>
              <a:t>No-Steal/Force</a:t>
            </a:r>
            <a:r>
              <a:rPr lang="en-US" dirty="0"/>
              <a:t>: Neither (fastest recovery, slowest commit)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310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E2F4D-1191-5B13-F530-AB0E4DC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B42C6-DED7-834D-BDA5-4BC09902F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synchronization point between the DB and log file to </a:t>
            </a:r>
            <a:r>
              <a:rPr lang="en-US" b="1" dirty="0"/>
              <a:t>minimize recovery time</a:t>
            </a:r>
            <a:r>
              <a:rPr lang="en-US" dirty="0"/>
              <a:t>.</a:t>
            </a:r>
          </a:p>
          <a:p>
            <a:r>
              <a:rPr lang="en-US" b="1" dirty="0"/>
              <a:t>Checkpoint Operation Steps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sz="1800" b="1" dirty="0"/>
              <a:t>Suspend</a:t>
            </a:r>
            <a:r>
              <a:rPr lang="en-US" sz="1800" dirty="0"/>
              <a:t> transaction execution temporarily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sz="1800" b="1" dirty="0"/>
              <a:t>Force write</a:t>
            </a:r>
            <a:r>
              <a:rPr lang="en-US" sz="1800" dirty="0"/>
              <a:t> modified buffer data to disk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sz="1800" b="1" dirty="0"/>
              <a:t>Write</a:t>
            </a:r>
            <a:r>
              <a:rPr lang="en-US" sz="1800" dirty="0"/>
              <a:t> [checkpoint] record to log, save to disk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sz="1800" b="1" dirty="0"/>
              <a:t>Resume</a:t>
            </a:r>
            <a:r>
              <a:rPr lang="en-US" sz="1800" dirty="0"/>
              <a:t> normal transaction execution</a:t>
            </a:r>
          </a:p>
          <a:p>
            <a:r>
              <a:rPr lang="en-US" b="1" dirty="0"/>
              <a:t>Checkpoint Benefits</a:t>
            </a:r>
          </a:p>
          <a:p>
            <a:pPr lvl="1"/>
            <a:r>
              <a:rPr lang="en-US" sz="1800" dirty="0"/>
              <a:t>Reduces log scanning </a:t>
            </a:r>
          </a:p>
          <a:p>
            <a:pPr lvl="1"/>
            <a:r>
              <a:rPr lang="en-US" sz="1800" dirty="0"/>
              <a:t>Improves recovery speed</a:t>
            </a:r>
          </a:p>
          <a:p>
            <a:pPr marL="857250" lvl="1" indent="-400050">
              <a:buFont typeface="+mj-lt"/>
              <a:buAutoNum type="roman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705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97A3-8592-46A5-904A-4B4D688AE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</a:t>
            </a:r>
            <a:r>
              <a:rPr lang="en-US" dirty="0"/>
              <a:t>Transaction Roll-back (Undo) and Roll-Forward (Redo)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9C032-1199-8BE9-D37A-F44F858F4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Undo:</a:t>
            </a:r>
            <a:r>
              <a:rPr lang="en-US" dirty="0"/>
              <a:t> Removes </a:t>
            </a:r>
            <a:r>
              <a:rPr lang="en-US" b="1" dirty="0"/>
              <a:t>AFIMs</a:t>
            </a:r>
            <a:r>
              <a:rPr lang="en-US" dirty="0"/>
              <a:t> and restores </a:t>
            </a:r>
            <a:r>
              <a:rPr lang="en-US" b="1" dirty="0"/>
              <a:t>BFIMs</a:t>
            </a:r>
            <a:r>
              <a:rPr lang="en-US" dirty="0"/>
              <a:t> to disk.</a:t>
            </a:r>
          </a:p>
          <a:p>
            <a:r>
              <a:rPr lang="en-US" b="1" dirty="0"/>
              <a:t>Redo:</a:t>
            </a:r>
            <a:r>
              <a:rPr lang="en-US" dirty="0"/>
              <a:t> Restores </a:t>
            </a:r>
            <a:r>
              <a:rPr lang="en-US" b="1" dirty="0"/>
              <a:t>AFIMs</a:t>
            </a:r>
            <a:r>
              <a:rPr lang="en-US" dirty="0"/>
              <a:t> to the disk to ensure durability.</a:t>
            </a:r>
          </a:p>
          <a:p>
            <a:r>
              <a:rPr lang="en-US" b="1" dirty="0"/>
              <a:t>Cascading Rollback:</a:t>
            </a:r>
            <a:r>
              <a:rPr lang="en-US" dirty="0"/>
              <a:t> </a:t>
            </a:r>
          </a:p>
          <a:p>
            <a:pPr lvl="1"/>
            <a:r>
              <a:rPr lang="en-US" sz="1800" dirty="0"/>
              <a:t>If one transaction fails:</a:t>
            </a:r>
            <a:br>
              <a:rPr lang="en-US" sz="1800" dirty="0"/>
            </a:br>
            <a:r>
              <a:rPr lang="en-US" sz="1800" dirty="0"/>
              <a:t>→ others, depending on it, must rollback</a:t>
            </a:r>
          </a:p>
          <a:p>
            <a:pPr lvl="1"/>
            <a:r>
              <a:rPr lang="en-US" sz="1800" dirty="0"/>
              <a:t>If T1 is undone, any transaction that reads T1's data must also be undone.</a:t>
            </a:r>
          </a:p>
          <a:p>
            <a:pPr marL="457200" lvl="1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10911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FCAA1-9125-3C1C-11A5-D7BC187AD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92506"/>
            <a:ext cx="8596668" cy="62346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/>
                </a:solidFill>
              </a:rPr>
              <a:t>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CE06AA2-B798-337F-F6E7-1934F02E1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3" y="815976"/>
            <a:ext cx="8931887" cy="604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839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3A36F-9E83-5C48-B2F1-92C281D7D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</a:rPr>
              <a:t>Roll-back</a:t>
            </a:r>
            <a:r>
              <a:rPr lang="en-US" dirty="0">
                <a:latin typeface="Times New Roman" panose="02020603050405020304" pitchFamily="18" charset="0"/>
              </a:rPr>
              <a:t>:  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One execution of T1, T2 and T3 as recorded in the log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9C04ED-1021-FDC0-310C-8397C6FD2B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930400"/>
            <a:ext cx="9721516" cy="474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969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844C7-F223-46E1-5977-686824C02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2)DATA UPDATE &amp; RECOVERY SCHEMES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50B4E-8821-2C3E-D7BF-DF31F3009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Types of Recovery Schemes</a:t>
            </a:r>
          </a:p>
          <a:p>
            <a:pPr marL="800100" lvl="1" indent="-342900">
              <a:buFont typeface="+mj-lt"/>
              <a:buAutoNum type="alphaUcPeriod"/>
            </a:pPr>
            <a:r>
              <a:rPr lang="en-US" sz="1800" dirty="0"/>
              <a:t>Deferred Update </a:t>
            </a:r>
          </a:p>
          <a:p>
            <a:pPr marL="800100" lvl="1" indent="-342900">
              <a:buFont typeface="+mj-lt"/>
              <a:buAutoNum type="alphaUcPeriod"/>
            </a:pPr>
            <a:r>
              <a:rPr lang="en-US" sz="1800" dirty="0"/>
              <a:t>Immediate Update </a:t>
            </a:r>
          </a:p>
          <a:p>
            <a:pPr marL="800100" lvl="1" indent="-342900">
              <a:buFont typeface="+mj-lt"/>
              <a:buAutoNum type="alphaUcPeriod"/>
            </a:pPr>
            <a:r>
              <a:rPr lang="en-US" sz="1800" dirty="0"/>
              <a:t>Shadow Paging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704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910D4-A6BD-0D67-40AA-4169DBC0D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7972"/>
            <a:ext cx="8596668" cy="718666"/>
          </a:xfrm>
        </p:spPr>
        <p:txBody>
          <a:bodyPr/>
          <a:lstStyle/>
          <a:p>
            <a:r>
              <a:rPr lang="en-US" dirty="0"/>
              <a:t>A. Deferred Update (No Undo/Redo)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E9E2C-5874-8BAB-7A1C-937D986B1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16638"/>
            <a:ext cx="8596668" cy="5856305"/>
          </a:xfrm>
        </p:spPr>
        <p:txBody>
          <a:bodyPr>
            <a:normAutofit fontScale="25000" lnSpcReduction="20000"/>
          </a:bodyPr>
          <a:lstStyle/>
          <a:p>
            <a:r>
              <a:rPr lang="en-US" sz="6400" b="1" dirty="0"/>
              <a:t>How It Works </a:t>
            </a:r>
          </a:p>
          <a:p>
            <a:pPr lvl="1"/>
            <a:r>
              <a:rPr lang="en-US" sz="6400" dirty="0"/>
              <a:t>Transaction records all updates in </a:t>
            </a:r>
            <a:r>
              <a:rPr lang="en-US" sz="6400" b="1" dirty="0"/>
              <a:t>log only</a:t>
            </a:r>
            <a:endParaRPr lang="en-US" sz="6400" dirty="0"/>
          </a:p>
          <a:p>
            <a:pPr lvl="1"/>
            <a:r>
              <a:rPr lang="en-US" sz="6400" dirty="0"/>
              <a:t>Updates held in </a:t>
            </a:r>
            <a:r>
              <a:rPr lang="en-US" sz="6400" b="1" dirty="0"/>
              <a:t>cache buffer</a:t>
            </a:r>
            <a:r>
              <a:rPr lang="en-US" sz="6400" dirty="0"/>
              <a:t> until commit</a:t>
            </a:r>
          </a:p>
          <a:p>
            <a:pPr lvl="1"/>
            <a:r>
              <a:rPr lang="en-US" sz="6400" dirty="0"/>
              <a:t>At commit: updates saved to database disk (under WAL)</a:t>
            </a:r>
          </a:p>
          <a:p>
            <a:pPr lvl="1"/>
            <a:r>
              <a:rPr lang="en-US" sz="6400" b="1" dirty="0"/>
              <a:t>No AFIM flushed before commit</a:t>
            </a:r>
            <a:endParaRPr lang="en-US" sz="6400" dirty="0"/>
          </a:p>
          <a:p>
            <a:r>
              <a:rPr lang="en-US" sz="6400" b="1" dirty="0"/>
              <a:t>Recovery Process</a:t>
            </a:r>
          </a:p>
          <a:p>
            <a:pPr lvl="1"/>
            <a:r>
              <a:rPr lang="en-US" sz="6400" b="1" dirty="0"/>
              <a:t>No UNDO</a:t>
            </a:r>
            <a:r>
              <a:rPr lang="en-US" sz="6400" dirty="0"/>
              <a:t> needed (database unchanged by uncommitted transactions)</a:t>
            </a:r>
          </a:p>
          <a:p>
            <a:pPr lvl="1"/>
            <a:r>
              <a:rPr lang="en-US" sz="6400" b="1" dirty="0"/>
              <a:t>REDO</a:t>
            </a:r>
            <a:r>
              <a:rPr lang="en-US" sz="6400" dirty="0"/>
              <a:t> all committed transactions from log</a:t>
            </a:r>
          </a:p>
          <a:p>
            <a:r>
              <a:rPr lang="en-US" sz="6400" b="1" dirty="0"/>
              <a:t>Limitation</a:t>
            </a:r>
          </a:p>
          <a:p>
            <a:pPr lvl="1"/>
            <a:r>
              <a:rPr lang="en-US" sz="6400" dirty="0"/>
              <a:t>Risk of </a:t>
            </a:r>
            <a:r>
              <a:rPr lang="en-US" sz="6400" b="1" dirty="0"/>
              <a:t>out of buffer space</a:t>
            </a:r>
            <a:r>
              <a:rPr lang="en-US" sz="6400" dirty="0"/>
              <a:t> - transaction changes must stay in cache until commit</a:t>
            </a:r>
          </a:p>
          <a:p>
            <a:r>
              <a:rPr lang="en-US" sz="6400" b="1" dirty="0"/>
              <a:t>Single-User vs Multi-User </a:t>
            </a:r>
          </a:p>
          <a:p>
            <a:pPr lvl="1"/>
            <a:r>
              <a:rPr lang="en-US" sz="6400" b="1" dirty="0"/>
              <a:t>Single-user</a:t>
            </a:r>
            <a:r>
              <a:rPr lang="en-US" sz="6400" dirty="0"/>
              <a:t>: No concurrency concerns</a:t>
            </a:r>
          </a:p>
          <a:p>
            <a:pPr lvl="1"/>
            <a:r>
              <a:rPr lang="en-US" sz="6400" b="1" dirty="0"/>
              <a:t>Multi-user</a:t>
            </a:r>
            <a:r>
              <a:rPr lang="en-US" sz="6400" dirty="0"/>
              <a:t>: Requires concurrency control mechanism + Active Table + Commit Table</a:t>
            </a:r>
          </a:p>
          <a:p>
            <a:r>
              <a:rPr lang="en-US" sz="6400" b="1" dirty="0"/>
              <a:t>Tables Used</a:t>
            </a:r>
          </a:p>
          <a:p>
            <a:pPr lvl="1"/>
            <a:r>
              <a:rPr lang="en-US" sz="6400" b="1" dirty="0"/>
              <a:t>Active Table: </a:t>
            </a:r>
            <a:r>
              <a:rPr lang="en-US" sz="6400" dirty="0"/>
              <a:t>Tracks running transactions </a:t>
            </a:r>
          </a:p>
          <a:p>
            <a:pPr lvl="1"/>
            <a:r>
              <a:rPr lang="en-US" sz="6400" b="1" dirty="0"/>
              <a:t>Commit Table: </a:t>
            </a:r>
            <a:r>
              <a:rPr lang="en-US" sz="6400" dirty="0"/>
              <a:t>Tracks committed transactions</a:t>
            </a:r>
            <a:endParaRPr lang="en-US" sz="6400" b="1" dirty="0"/>
          </a:p>
          <a:p>
            <a:r>
              <a:rPr lang="en-US" sz="6400" b="1" dirty="0"/>
              <a:t>Idempotent REDO</a:t>
            </a:r>
            <a:endParaRPr lang="en-US" sz="6400" dirty="0"/>
          </a:p>
          <a:p>
            <a:pPr lvl="1"/>
            <a:r>
              <a:rPr lang="en-US" sz="6400" dirty="0"/>
              <a:t>REDO operation can be applied multiple times without inconsistency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39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B83750-07BA-1CDC-5716-8B393BB636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36736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B6B6A0-2E80-9E5D-4318-C5A1FFE931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73642"/>
            <a:ext cx="12192000" cy="318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087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F779-23DC-D472-5597-E3E78924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</a:t>
            </a:r>
            <a:r>
              <a:rPr lang="en-US" dirty="0"/>
              <a:t>. Immediate Update ( Undo/No-redo Algorithm)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690D2-D638-1189-D5BF-C9371B331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It Works</a:t>
            </a:r>
          </a:p>
          <a:p>
            <a:pPr lvl="1"/>
            <a:r>
              <a:rPr lang="en-US" sz="1800" dirty="0"/>
              <a:t>AFIMs flushed to database disk </a:t>
            </a:r>
            <a:r>
              <a:rPr lang="en-US" sz="1800" b="1" dirty="0"/>
              <a:t>before transaction commits</a:t>
            </a:r>
            <a:r>
              <a:rPr lang="en-US" sz="1800" dirty="0"/>
              <a:t> (under WAL)</a:t>
            </a:r>
          </a:p>
          <a:p>
            <a:pPr lvl="1"/>
            <a:r>
              <a:rPr lang="en-US" sz="1800" dirty="0"/>
              <a:t>Updates recorded on log first, then disk via force writing</a:t>
            </a:r>
          </a:p>
          <a:p>
            <a:r>
              <a:rPr lang="en-US" b="1" dirty="0"/>
              <a:t>Recovery Process</a:t>
            </a:r>
          </a:p>
          <a:p>
            <a:pPr lvl="1"/>
            <a:r>
              <a:rPr lang="en-US" sz="1800" b="1" dirty="0"/>
              <a:t>UNDO</a:t>
            </a:r>
            <a:r>
              <a:rPr lang="en-US" sz="1800" dirty="0"/>
              <a:t> all transactions (uncommitted AND prepared-to-commit)</a:t>
            </a:r>
          </a:p>
          <a:p>
            <a:pPr lvl="1"/>
            <a:r>
              <a:rPr lang="en-US" sz="1800" b="1" dirty="0"/>
              <a:t>No REDO</a:t>
            </a:r>
            <a:r>
              <a:rPr lang="en-US" sz="1800" dirty="0"/>
              <a:t> performed</a:t>
            </a:r>
          </a:p>
          <a:p>
            <a:r>
              <a:rPr lang="en-US" b="1" dirty="0"/>
              <a:t>Why UNDO needed?</a:t>
            </a:r>
          </a:p>
          <a:p>
            <a:pPr lvl="1"/>
            <a:r>
              <a:rPr lang="en-US" sz="1800" dirty="0"/>
              <a:t>Transaction might have modified database but not yet committed - must be rolled back 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709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F7F1E-C77B-8C66-4E93-79D420EC7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90351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C. Shadow Paging (NO-UNDO/NO-REDO)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A5AEF-1BD0-96F1-DF0B-DEA6C15CA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03514"/>
            <a:ext cx="8596668" cy="5595257"/>
          </a:xfrm>
        </p:spPr>
        <p:txBody>
          <a:bodyPr>
            <a:noAutofit/>
          </a:bodyPr>
          <a:lstStyle/>
          <a:p>
            <a:r>
              <a:rPr lang="en-US" b="1" dirty="0"/>
              <a:t>Process</a:t>
            </a:r>
          </a:p>
          <a:p>
            <a:pPr lvl="1"/>
            <a:r>
              <a:rPr lang="en-US" sz="1800" dirty="0"/>
              <a:t>Transaction starts: both tables point to same pages </a:t>
            </a:r>
          </a:p>
          <a:p>
            <a:pPr lvl="1"/>
            <a:r>
              <a:rPr lang="en-US" sz="1800" dirty="0"/>
              <a:t>Updates go to </a:t>
            </a:r>
            <a:r>
              <a:rPr lang="en-US" sz="1800" b="1" dirty="0"/>
              <a:t>new copies</a:t>
            </a:r>
            <a:r>
              <a:rPr lang="en-US" sz="1800" dirty="0"/>
              <a:t> (shadow pages)</a:t>
            </a:r>
          </a:p>
          <a:p>
            <a:pPr lvl="1"/>
            <a:r>
              <a:rPr lang="en-US" sz="1800" dirty="0"/>
              <a:t>On commit: current table becomes shadow table</a:t>
            </a:r>
          </a:p>
          <a:p>
            <a:pPr lvl="1"/>
            <a:r>
              <a:rPr lang="en-US" sz="1800" dirty="0"/>
              <a:t>On abort: shadow table restored</a:t>
            </a:r>
          </a:p>
          <a:p>
            <a:r>
              <a:rPr lang="en-US" b="1" dirty="0"/>
              <a:t>Operation:</a:t>
            </a:r>
          </a:p>
          <a:p>
            <a:pPr lvl="1"/>
            <a:r>
              <a:rPr lang="en-US" sz="1800" dirty="0"/>
              <a:t>Shadow table is never changed; it's the "safety" copy.</a:t>
            </a:r>
          </a:p>
          <a:p>
            <a:pPr lvl="1"/>
            <a:r>
              <a:rPr lang="en-US" sz="1800" dirty="0"/>
              <a:t>Current table records all new updates in new disk blocks.</a:t>
            </a:r>
          </a:p>
          <a:p>
            <a:r>
              <a:rPr lang="en-US" b="1" dirty="0"/>
              <a:t>Advantages</a:t>
            </a:r>
          </a:p>
          <a:p>
            <a:pPr lvl="1"/>
            <a:r>
              <a:rPr lang="en-US" sz="1800" b="1" dirty="0"/>
              <a:t>No log needed</a:t>
            </a:r>
            <a:r>
              <a:rPr lang="en-US" sz="1800" dirty="0"/>
              <a:t> for recovery</a:t>
            </a:r>
          </a:p>
          <a:p>
            <a:pPr lvl="1"/>
            <a:r>
              <a:rPr lang="en-US" sz="1800" dirty="0"/>
              <a:t>Fast recovery</a:t>
            </a:r>
          </a:p>
          <a:p>
            <a:r>
              <a:rPr lang="en-US" b="1" dirty="0"/>
              <a:t>Disadvantages</a:t>
            </a:r>
          </a:p>
          <a:p>
            <a:pPr lvl="1"/>
            <a:r>
              <a:rPr lang="en-US" sz="1800" dirty="0"/>
              <a:t>Complex management</a:t>
            </a:r>
          </a:p>
          <a:p>
            <a:pPr lvl="1"/>
            <a:r>
              <a:rPr lang="en-US" sz="1800" dirty="0"/>
              <a:t>Extra memory usage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3B0BD2-2475-C679-EB13-33222E053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622" y="4026568"/>
            <a:ext cx="7764378" cy="283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749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6F3B9-5D18-19CE-52F5-D13398240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1550989"/>
          </a:xfrm>
        </p:spPr>
        <p:txBody>
          <a:bodyPr>
            <a:normAutofit fontScale="90000"/>
          </a:bodyPr>
          <a:lstStyle/>
          <a:p>
            <a:r>
              <a:rPr lang="en-US" dirty="0"/>
              <a:t>The ARIES(Algorithm for Recovery and Isolation Exploiting Semantics.) Recovery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E35CE-F5C9-8A9D-F12D-3693755DD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Works with: Steal + No-Force</a:t>
            </a:r>
          </a:p>
          <a:p>
            <a:r>
              <a:rPr lang="en-US" b="1" dirty="0"/>
              <a:t>Based on: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1800" b="1" dirty="0"/>
              <a:t>WAL: </a:t>
            </a:r>
            <a:r>
              <a:rPr lang="en-US" sz="1800" dirty="0"/>
              <a:t>Algorithm for Recovery and Isolation Exploiting Semantics.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1800" b="1" dirty="0"/>
              <a:t>Repeat History during redo: </a:t>
            </a:r>
            <a:r>
              <a:rPr lang="en-US" sz="1800" dirty="0"/>
              <a:t>Redoes all actions (even uncommitted ones) to reach the crash state. 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1800" b="1" dirty="0"/>
              <a:t>Logging during Undo</a:t>
            </a:r>
            <a:r>
              <a:rPr lang="en-US" sz="1800" dirty="0"/>
              <a:t>: Records "undo" actions to prevent repeating them if a second crash occurs.</a:t>
            </a:r>
          </a:p>
          <a:p>
            <a:r>
              <a:rPr lang="en-US" b="1" dirty="0"/>
              <a:t>Principles</a:t>
            </a:r>
          </a:p>
          <a:p>
            <a:pPr lvl="1"/>
            <a:r>
              <a:rPr lang="en-US" sz="1800" dirty="0"/>
              <a:t>Log first → then update database </a:t>
            </a:r>
          </a:p>
          <a:p>
            <a:pPr lvl="1"/>
            <a:r>
              <a:rPr lang="en-US" sz="1800" dirty="0"/>
              <a:t>Redo all actions </a:t>
            </a:r>
          </a:p>
          <a:p>
            <a:pPr lvl="1"/>
            <a:r>
              <a:rPr lang="en-US" sz="1800" dirty="0"/>
              <a:t>Undo uncommitted transactions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3621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D9DCC-EA97-3D25-C62B-17E5BB7FC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98714"/>
          </a:xfrm>
        </p:spPr>
        <p:txBody>
          <a:bodyPr>
            <a:normAutofit fontScale="90000"/>
          </a:bodyPr>
          <a:lstStyle/>
          <a:p>
            <a:r>
              <a:rPr lang="en-US" dirty="0"/>
              <a:t>Data Update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79C333-2E38-3E3D-AED9-2042381228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1475045"/>
              </p:ext>
            </p:extLst>
          </p:nvPr>
        </p:nvGraphicFramePr>
        <p:xfrm>
          <a:off x="677863" y="1208314"/>
          <a:ext cx="8596310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262">
                  <a:extLst>
                    <a:ext uri="{9D8B030D-6E8A-4147-A177-3AD203B41FA5}">
                      <a16:colId xmlns:a16="http://schemas.microsoft.com/office/drawing/2014/main" val="2974821116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413210524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3860800033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1441193840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1604028177"/>
                    </a:ext>
                  </a:extLst>
                </a:gridCol>
              </a:tblGrid>
              <a:tr h="32037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Method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UNDO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REDO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Log Required?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Concurrency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3160011868"/>
                  </a:ext>
                </a:extLst>
              </a:tr>
              <a:tr h="52664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Deferred Update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No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Yes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Yes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Limited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214221389"/>
                  </a:ext>
                </a:extLst>
              </a:tr>
              <a:tr h="52664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Immediate Update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Yes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No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Yes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Better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523111957"/>
                  </a:ext>
                </a:extLst>
              </a:tr>
              <a:tr h="52664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Shadow Paging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No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No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No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Low (page locks)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718534241"/>
                  </a:ext>
                </a:extLst>
              </a:tr>
              <a:tr h="32037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In-Place Update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Yes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Yes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Yes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Best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5417334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A432A68-7C11-C7F9-2FE0-08CFC61A8931}"/>
              </a:ext>
            </a:extLst>
          </p:cNvPr>
          <p:cNvSpPr txBox="1"/>
          <p:nvPr/>
        </p:nvSpPr>
        <p:spPr>
          <a:xfrm>
            <a:off x="677334" y="4158343"/>
            <a:ext cx="85963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Deferred Update</a:t>
            </a:r>
            <a:r>
              <a:rPr lang="en-US" b="1" dirty="0"/>
              <a:t>:- </a:t>
            </a:r>
            <a:r>
              <a:rPr lang="en-US" dirty="0"/>
              <a:t>Changes stay in workspace until commit</a:t>
            </a:r>
          </a:p>
          <a:p>
            <a:r>
              <a:rPr lang="en-US" dirty="0"/>
              <a:t>				 -Potential buffer space issue</a:t>
            </a:r>
          </a:p>
          <a:p>
            <a:r>
              <a:rPr lang="en-US" b="1" dirty="0">
                <a:solidFill>
                  <a:srgbClr val="00B0F0"/>
                </a:solidFill>
              </a:rPr>
              <a:t>Immediate Update</a:t>
            </a:r>
            <a:r>
              <a:rPr lang="en-US" b="1" dirty="0"/>
              <a:t>:-</a:t>
            </a:r>
            <a:r>
              <a:rPr lang="en-US" dirty="0"/>
              <a:t>Disk updated immediately after cache modification</a:t>
            </a:r>
          </a:p>
          <a:p>
            <a:pPr lvl="4"/>
            <a:r>
              <a:rPr lang="en-US" dirty="0"/>
              <a:t>   -Requires UNDO for uncommitted transactions</a:t>
            </a:r>
          </a:p>
          <a:p>
            <a:r>
              <a:rPr lang="en-US" b="1" dirty="0">
                <a:solidFill>
                  <a:srgbClr val="00B0F0"/>
                </a:solidFill>
              </a:rPr>
              <a:t>Shadow Paging</a:t>
            </a:r>
            <a:r>
              <a:rPr lang="en-US" b="1" dirty="0"/>
              <a:t>:- </a:t>
            </a:r>
            <a:r>
              <a:rPr lang="en-US" dirty="0"/>
              <a:t>Multiple versions maintained</a:t>
            </a:r>
          </a:p>
          <a:p>
            <a:r>
              <a:rPr lang="en-US" dirty="0"/>
              <a:t>				-Requires garbage collection</a:t>
            </a:r>
          </a:p>
          <a:p>
            <a:r>
              <a:rPr lang="en-US" b="1" dirty="0">
                <a:solidFill>
                  <a:srgbClr val="00B0F0"/>
                </a:solidFill>
              </a:rPr>
              <a:t>In-Place Update</a:t>
            </a:r>
            <a:r>
              <a:rPr lang="en-US" b="1" dirty="0"/>
              <a:t>:- Disk</a:t>
            </a:r>
            <a:r>
              <a:rPr lang="en-US" dirty="0"/>
              <a:t> version overwritten by cache version</a:t>
            </a:r>
          </a:p>
          <a:p>
            <a:pPr lvl="4"/>
            <a:r>
              <a:rPr lang="en-US" dirty="0"/>
              <a:t>-Standard approach in modern DBMS 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907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9BB26-5C46-47D5-9FFD-021790264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677334" y="563881"/>
            <a:ext cx="8596668" cy="45719"/>
          </a:xfrm>
        </p:spPr>
        <p:txBody>
          <a:bodyPr>
            <a:normAutofit fontScale="90000"/>
          </a:bodyPr>
          <a:lstStyle/>
          <a:p>
            <a:r>
              <a:rPr lang="en-US"/>
              <a:t>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BC414-65F9-3D05-122C-2DE777D98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55318"/>
            <a:ext cx="8596668" cy="5763929"/>
          </a:xfrm>
        </p:spPr>
        <p:txBody>
          <a:bodyPr/>
          <a:lstStyle/>
          <a:p>
            <a:r>
              <a:rPr lang="en-US" b="1" dirty="0"/>
              <a:t>ARIES Log &amp; LSN</a:t>
            </a:r>
          </a:p>
          <a:p>
            <a:pPr lvl="1"/>
            <a:r>
              <a:rPr lang="en-US" sz="1800" b="1" dirty="0"/>
              <a:t>LSN (Log Sequence Number):</a:t>
            </a:r>
            <a:r>
              <a:rPr lang="en-US" sz="1800" dirty="0"/>
              <a:t> Unique, monotonic ID for every log record.</a:t>
            </a:r>
          </a:p>
          <a:p>
            <a:pPr lvl="1"/>
            <a:r>
              <a:rPr lang="en-US" sz="1800" b="1" dirty="0" err="1"/>
              <a:t>PageLSN</a:t>
            </a:r>
            <a:r>
              <a:rPr lang="en-US" sz="1800" b="1" dirty="0"/>
              <a:t>:</a:t>
            </a:r>
            <a:r>
              <a:rPr lang="en-US" sz="1800" dirty="0"/>
              <a:t> Each data page stores the LSN of its latest change.</a:t>
            </a:r>
          </a:p>
          <a:p>
            <a:pPr lvl="1"/>
            <a:r>
              <a:rPr lang="en-US" sz="1800" b="1" dirty="0"/>
              <a:t>Log Record Types:</a:t>
            </a:r>
            <a:r>
              <a:rPr lang="en-US" sz="1800" dirty="0"/>
              <a:t> Update, Commit, Abort, End, and Undo.</a:t>
            </a:r>
          </a:p>
          <a:p>
            <a:r>
              <a:rPr lang="en-US" b="1" dirty="0"/>
              <a:t>ARIES Tables</a:t>
            </a:r>
          </a:p>
          <a:p>
            <a:pPr lvl="1"/>
            <a:r>
              <a:rPr lang="en-US" sz="1800" b="1" dirty="0"/>
              <a:t>Transaction Table:</a:t>
            </a:r>
            <a:r>
              <a:rPr lang="en-US" sz="1800" dirty="0"/>
              <a:t> Tracks active Transaction IDs, Status, and </a:t>
            </a:r>
            <a:r>
              <a:rPr lang="en-US" sz="1800" dirty="0" err="1"/>
              <a:t>Last_LSN</a:t>
            </a:r>
            <a:r>
              <a:rPr lang="en-US" sz="1800" dirty="0"/>
              <a:t>.</a:t>
            </a:r>
          </a:p>
          <a:p>
            <a:pPr lvl="1"/>
            <a:r>
              <a:rPr lang="en-US" sz="1800" b="1" dirty="0"/>
              <a:t>Dirty Page Table:</a:t>
            </a:r>
            <a:r>
              <a:rPr lang="en-US" sz="1800" dirty="0"/>
              <a:t> Tracks pages in buffer modified but not yet on disk.</a:t>
            </a:r>
            <a:endParaRPr lang="en-US" sz="1800" b="1" dirty="0"/>
          </a:p>
          <a:p>
            <a:r>
              <a:rPr lang="en-US" b="1" dirty="0"/>
              <a:t>Fuzzy Checkpointing:</a:t>
            </a:r>
            <a:r>
              <a:rPr lang="en-US" dirty="0"/>
              <a:t> Allows transactions to continue running while checkpointing.</a:t>
            </a:r>
            <a:endParaRPr lang="en-US" b="1" dirty="0"/>
          </a:p>
          <a:p>
            <a:r>
              <a:rPr lang="en-US" b="1" dirty="0"/>
              <a:t>The Three Phases of ARIES</a:t>
            </a:r>
          </a:p>
          <a:p>
            <a:pPr lvl="1"/>
            <a:r>
              <a:rPr lang="en-US" sz="1800" b="1" dirty="0"/>
              <a:t>Phase 1: Analysis:</a:t>
            </a:r>
            <a:r>
              <a:rPr lang="en-US" sz="1800" dirty="0"/>
              <a:t> Identifies dirty pages and transactions active at crash.</a:t>
            </a:r>
          </a:p>
          <a:p>
            <a:pPr lvl="1"/>
            <a:r>
              <a:rPr lang="en-US" sz="1800" b="1" dirty="0"/>
              <a:t>Phase 2: Redo:</a:t>
            </a:r>
            <a:r>
              <a:rPr lang="en-US" sz="1800" dirty="0"/>
              <a:t> Replays history from the earliest dirty page forward.</a:t>
            </a:r>
          </a:p>
          <a:p>
            <a:pPr lvl="1"/>
            <a:r>
              <a:rPr lang="en-US" sz="1800" b="1" dirty="0"/>
              <a:t>Phase 3: Undo:</a:t>
            </a:r>
            <a:r>
              <a:rPr lang="en-US" sz="1800" dirty="0"/>
              <a:t> Scans backward to roll back all uncommitted transactions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61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DC1660-3DE4-92EB-BD42-170844DA79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080" y="185057"/>
            <a:ext cx="8851677" cy="668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5637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92480-3381-5C9B-532C-9463557FA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794B3-F6E7-D437-F127-AE495E25D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conclusion, database recovery techniques help maintain data integrity and system reliability after failures. Methods such as logging, checkpointing, undo/redo operations, and the ARIES algorithm ensure that databases can recover and return to a consistent state while preserving committed transactions.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174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F78DB-EBED-1E64-4D1B-C64949BF2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35888-4162-70A3-2004-2881B4045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System Concepts – Abraham Silberschatz, Henry F. Korth, S. Sudarshan, </a:t>
            </a:r>
            <a:r>
              <a:rPr lang="en-US" i="1" dirty="0"/>
              <a:t>Database System Concepts</a:t>
            </a:r>
            <a:r>
              <a:rPr lang="en-US" dirty="0"/>
              <a:t>, McGraw-Hill. </a:t>
            </a:r>
          </a:p>
          <a:p>
            <a:r>
              <a:rPr lang="en-US" dirty="0"/>
              <a:t>Fundamentals of Database Systems – Ramez Elmasri and Shamkant B. Navathe, </a:t>
            </a:r>
            <a:r>
              <a:rPr lang="en-US" i="1" dirty="0"/>
              <a:t>Fundamentals of Database Systems</a:t>
            </a:r>
            <a:r>
              <a:rPr lang="en-US" dirty="0"/>
              <a:t>, Pearson Education. </a:t>
            </a:r>
          </a:p>
          <a:p>
            <a:r>
              <a:rPr lang="en-US" dirty="0"/>
              <a:t>Database Management Systems – Raghu Ramakrishnan &amp; Johannes Gehrke, </a:t>
            </a:r>
            <a:r>
              <a:rPr lang="en-US" i="1" dirty="0"/>
              <a:t>Database Management Systems</a:t>
            </a:r>
            <a:r>
              <a:rPr lang="en-US" dirty="0"/>
              <a:t>, McGraw-Hill. </a:t>
            </a:r>
          </a:p>
          <a:p>
            <a:r>
              <a:rPr lang="en-US" dirty="0"/>
              <a:t>Lecture notes and course materials provided by Alemayehu </a:t>
            </a:r>
            <a:r>
              <a:rPr lang="en-US" dirty="0" err="1"/>
              <a:t>Megersa</a:t>
            </a:r>
            <a:r>
              <a:rPr lang="en-US" dirty="0"/>
              <a:t> Keba for Database Systems (</a:t>
            </a:r>
            <a:r>
              <a:rPr lang="en-US" dirty="0" err="1"/>
              <a:t>SEng</a:t>
            </a:r>
            <a:r>
              <a:rPr lang="en-US" dirty="0"/>
              <a:t> 2204).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74907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3120</TotalTime>
  <Words>1665</Words>
  <Application>Microsoft Office PowerPoint</Application>
  <PresentationFormat>Widescreen</PresentationFormat>
  <Paragraphs>226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quote-cjk-patch</vt:lpstr>
      <vt:lpstr>Times New Roman</vt:lpstr>
      <vt:lpstr>Trebuchet MS</vt:lpstr>
      <vt:lpstr>Wingdings 3</vt:lpstr>
      <vt:lpstr>Facet</vt:lpstr>
      <vt:lpstr>Database Systems (SEng 2204)  Chapter 7: Database Recovery Techniques  Members               Id          Group  1) Getamesay Mamo... UGR/38240/17………...1  2) Eman Abdulaziz…....UGR/36779/17….......1  3) Bereket Tadese………UGR/36541/17…………..2  4) Bereket Tarekegn….UGR/36542/17.…..….…1  5) Dagim Asmamaw…… UGR/36651/17.........1  6) Hilina Zewdu………….UGR/37099/17.........2       Instructor: Alemayehu Megersa Keba         </vt:lpstr>
      <vt:lpstr>Introduction</vt:lpstr>
      <vt:lpstr>Database Recovery</vt:lpstr>
      <vt:lpstr>Roles of Managers</vt:lpstr>
      <vt:lpstr>Purpose of Recovery</vt:lpstr>
      <vt:lpstr>Types of Failures</vt:lpstr>
      <vt:lpstr>Recovery Strategies</vt:lpstr>
      <vt:lpstr>PowerPoint Presentation</vt:lpstr>
      <vt:lpstr>The Transaction Log</vt:lpstr>
      <vt:lpstr>Data Caching</vt:lpstr>
      <vt:lpstr>Write-Ahead Logging (WAL) </vt:lpstr>
      <vt:lpstr>Steal vs No-Steal / Force vs No-Force</vt:lpstr>
      <vt:lpstr>Checkpointing </vt:lpstr>
      <vt:lpstr> Transaction Roll-back (Undo) and Roll-Forward (Redo)</vt:lpstr>
      <vt:lpstr>Example</vt:lpstr>
      <vt:lpstr>Roll-back:  One execution of T1, T2 and T3 as recorded in the log.</vt:lpstr>
      <vt:lpstr>2)DATA UPDATE &amp; RECOVERY SCHEMES </vt:lpstr>
      <vt:lpstr>A. Deferred Update (No Undo/Redo)</vt:lpstr>
      <vt:lpstr>PowerPoint Presentation</vt:lpstr>
      <vt:lpstr>B. Immediate Update ( Undo/No-redo Algorithm)</vt:lpstr>
      <vt:lpstr>C. Shadow Paging (NO-UNDO/NO-REDO) </vt:lpstr>
      <vt:lpstr>The ARIES(Algorithm for Recovery and Isolation Exploiting Semantics.) Recovery Algorithm</vt:lpstr>
      <vt:lpstr>Data Update</vt:lpstr>
      <vt:lpstr>s</vt:lpstr>
      <vt:lpstr>PowerPoint Presentation</vt:lpstr>
      <vt:lpstr>Conclusion</vt:lpstr>
      <vt:lpstr>Reference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hilinazewdu840@gmail.com</dc:creator>
  <cp:lastModifiedBy>hilinazewdu840@gmail.com</cp:lastModifiedBy>
  <cp:revision>6</cp:revision>
  <dcterms:created xsi:type="dcterms:W3CDTF">2026-05-03T10:26:04Z</dcterms:created>
  <dcterms:modified xsi:type="dcterms:W3CDTF">2026-05-20T11:51:23Z</dcterms:modified>
</cp:coreProperties>
</file>